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404" autoAdjust="0"/>
  </p:normalViewPr>
  <p:slideViewPr>
    <p:cSldViewPr snapToGrid="0" snapToObjects="1">
      <p:cViewPr varScale="1">
        <p:scale>
          <a:sx n="83" d="100"/>
          <a:sy n="83" d="100"/>
        </p:scale>
        <p:origin x="76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IN"/>
              <a:t>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EE-4601-B396-36BAC8EBBA66}"/>
              </c:ext>
            </c:extLst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EE-4601-B396-36BAC8EBBA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82.4</c:v>
                </c:pt>
                <c:pt idx="1">
                  <c:v>83.83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EE-4601-B396-36BAC8EBBA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txPr>
    <a:bodyPr anchor="t" anchorCtr="0"/>
    <a:lstStyle/>
    <a:p>
      <a:pPr>
        <a:defRPr>
          <a:solidFill>
            <a:schemeClr val="tx1"/>
          </a:solidFill>
        </a:defRPr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0.12719</cdr:y>
    </cdr:from>
    <cdr:to>
      <cdr:x>0.10887</cdr:x>
      <cdr:y>0.91579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880A6A85-A8D3-D07C-0BE1-48FA038925BC}"/>
            </a:ext>
          </a:extLst>
        </cdr:cNvPr>
        <cdr:cNvSpPr txBox="1"/>
      </cdr:nvSpPr>
      <cdr:spPr>
        <a:xfrm xmlns:a="http://schemas.openxmlformats.org/drawingml/2006/main">
          <a:off x="0" y="331470"/>
          <a:ext cx="447979" cy="20551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IN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0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4114800"/>
            <a:ext cx="1645920" cy="1005840"/>
          </a:xfrm>
          <a:prstGeom prst="rect">
            <a:avLst/>
          </a:prstGeom>
          <a:solidFill>
            <a:srgbClr val="1B998B">
              <a:alpha val="3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Campaign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using Random Forest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11480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Term Deposit Subscription Prediction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Classifiers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103120" cy="685800"/>
          </a:xfrm>
          <a:prstGeom prst="rect">
            <a:avLst/>
          </a:prstGeom>
          <a:solidFill>
            <a:srgbClr val="0A2744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75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3657600"/>
            <a:ext cx="2103120" cy="685800"/>
          </a:xfrm>
          <a:prstGeom prst="rect">
            <a:avLst/>
          </a:prstGeom>
          <a:solidFill>
            <a:srgbClr val="0A2744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3675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3657600"/>
            <a:ext cx="2103120" cy="685800"/>
          </a:xfrm>
          <a:prstGeom prst="rect">
            <a:avLst/>
          </a:prstGeom>
          <a:solidFill>
            <a:srgbClr val="0A2744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6758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Rani  ·  Kritika Sahoo  ·  Smaraki Mohapatra  ·  Kashafun Afroz  ·  Madhusmita Swain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82296" cy="13258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we predict whether a bank customer will subscribe to a term deposit based on their demographic, financial, and behavioral data?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271576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423160"/>
            <a:ext cx="2715768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146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🏦  Background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24414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run telemarketing campaigns to promote term deposits. Not all customers respond — targeted outreach is key to reducing cost.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2423160"/>
            <a:ext cx="271576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2423160"/>
            <a:ext cx="2715768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5146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Objective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971800"/>
            <a:ext cx="24414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binary classifier that predicts Yes/No subscription outcome using customer attributes from historical campaign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71616" y="2423160"/>
            <a:ext cx="271576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2423160"/>
            <a:ext cx="2715768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251460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Approach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08776" y="2971800"/>
            <a:ext cx="24414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 and Random Forest models, tune hyperparameters, and select the best model based on accuracy &amp; ROC-AUC.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Attributes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3749040" cy="326440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balance (€)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call duration (sec)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contacts this campaign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99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Subscribed? (Yes/No) ←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96012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99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0" y="1069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45,211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960120"/>
            <a:ext cx="2011680" cy="1097280"/>
          </a:xfrm>
          <a:prstGeom prst="rect">
            <a:avLst/>
          </a:prstGeom>
          <a:solidFill>
            <a:srgbClr val="0A2744"/>
          </a:solidFill>
          <a:ln w="12700">
            <a:solidFill>
              <a:srgbClr val="1B99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0" y="1069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766560" y="15727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2240280"/>
            <a:ext cx="20116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B99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572000" y="2350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88.3%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0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(No)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2240280"/>
            <a:ext cx="2011680" cy="1097280"/>
          </a:xfrm>
          <a:prstGeom prst="rect">
            <a:avLst/>
          </a:prstGeom>
          <a:solidFill>
            <a:srgbClr val="0A2744"/>
          </a:solidFill>
          <a:ln w="12700">
            <a:solidFill>
              <a:srgbClr val="1B998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66560" y="23500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bank.csv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66560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2743200"/>
            <a:ext cx="4251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0" y="2743200"/>
            <a:ext cx="4251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2834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09160" y="3264408"/>
            <a:ext cx="182880" cy="1828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categorical features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09160" y="3666744"/>
            <a:ext cx="182880" cy="1828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3648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target (deposit → 0/1)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09160" y="4069080"/>
            <a:ext cx="182880" cy="1828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4050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/ StandardScaler applied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09160" y="4471416"/>
            <a:ext cx="182880" cy="1828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83480" y="4453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Train-Test Split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&amp;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645920" cy="3749040"/>
          </a:xfrm>
          <a:prstGeom prst="rect">
            <a:avLst/>
          </a:prstGeom>
          <a:solidFill>
            <a:srgbClr val="0A2744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15568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bank.csv using Pandas. Inspect shape, data types, nulls, and class distribution.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960120"/>
            <a:ext cx="1645920" cy="3749040"/>
          </a:xfrm>
          <a:prstGeom prst="rect">
            <a:avLst/>
          </a:prstGeom>
          <a:solidFill>
            <a:srgbClr val="0D3560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115568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487168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categoricals. Label encode target variable (deposit → 0/1).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960120"/>
            <a:ext cx="1645920" cy="3749040"/>
          </a:xfrm>
          <a:prstGeom prst="rect">
            <a:avLst/>
          </a:prstGeom>
          <a:solidFill>
            <a:srgbClr val="0A2744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115568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0" y="2487168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preserving class balance across train and test sets.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960120"/>
            <a:ext cx="1645920" cy="3749040"/>
          </a:xfrm>
          <a:prstGeom prst="rect">
            <a:avLst/>
          </a:prstGeom>
          <a:solidFill>
            <a:srgbClr val="0D3560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115568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487168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Logistic Regression and Random Forest with tuned hyperparameters (GridSearch).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960120"/>
            <a:ext cx="1645920" cy="3749040"/>
          </a:xfrm>
          <a:prstGeom prst="rect">
            <a:avLst/>
          </a:prstGeom>
          <a:solidFill>
            <a:srgbClr val="0A2744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1115568"/>
            <a:ext cx="640080" cy="6400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52360" y="1920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52360" y="2487168"/>
            <a:ext cx="1463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ROC-AUC, Classification Report, Confusion Matrix &amp; Feature Importance.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2834640"/>
            <a:ext cx="0" cy="0"/>
          </a:xfrm>
          <a:prstGeom prst="line">
            <a:avLst/>
          </a:prstGeom>
          <a:noFill/>
          <a:ln w="12700">
            <a:solidFill>
              <a:srgbClr val="2EC4B6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657600" y="2834640"/>
            <a:ext cx="0" cy="0"/>
          </a:xfrm>
          <a:prstGeom prst="line">
            <a:avLst/>
          </a:prstGeom>
          <a:noFill/>
          <a:ln w="12700">
            <a:solidFill>
              <a:srgbClr val="2EC4B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440680" y="2834640"/>
            <a:ext cx="0" cy="0"/>
          </a:xfrm>
          <a:prstGeom prst="line">
            <a:avLst/>
          </a:prstGeom>
          <a:noFill/>
          <a:ln w="12700">
            <a:solidFill>
              <a:srgbClr val="2EC4B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223760" y="2834640"/>
            <a:ext cx="0" cy="0"/>
          </a:xfrm>
          <a:prstGeom prst="line">
            <a:avLst/>
          </a:prstGeom>
          <a:noFill/>
          <a:ln w="12700">
            <a:solidFill>
              <a:srgbClr val="2EC4B6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1: Logistic Regression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 linear model for binary classification. It estimates the probability that a customer subscribes using a sigmoid function.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max_iter = 1000
• random_state = 42
• Solver: lbfgs (default)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baseline model for comparison with more complex ensemble methods.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2011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86.5%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1709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0" y="96012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709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37744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0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(Yes)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2377440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0.29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(Yes)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840480"/>
            <a:ext cx="4251960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9319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Note: Logistic Regression showed lower recall on the minority class (Yes subscribers), indicating it struggles with class imbalance — motivating the use of Random Forest.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2: Random Forest Classifier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An ensemble of decision trees that aggregates predictions via majority voting — reducing overfitting and improving generalization.
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Hyperparameters: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criterion = 'entropy'
• max_depth = 8
• max_features = 'log2'
• random_state = 42
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selected via GridSearchCV for optimal performance.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960120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83.8%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1709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96012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0" y="96012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709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377440"/>
            <a:ext cx="20116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0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(Yes)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2011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2377440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514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3127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(Yes)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840480"/>
            <a:ext cx="4251960" cy="105156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9319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Random Forest outperformed Logistic Regression on all key metrics — especially ROC-AUC (+0.03) and recall for Yes class, confirming it as the recommended model.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&amp; Feature Importance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82.45%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14400"/>
            <a:ext cx="196596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83.83%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14400"/>
            <a:ext cx="1965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ROC-AUC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914400"/>
            <a:ext cx="19659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 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59105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3569909564"/>
              </p:ext>
            </p:extLst>
          </p:nvPr>
        </p:nvGraphicFramePr>
        <p:xfrm>
          <a:off x="274320" y="2240280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4663440" y="2286000"/>
            <a:ext cx="4206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4632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Features — Random Forest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46320" y="2816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806440" y="2852928"/>
            <a:ext cx="2880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06440" y="2852928"/>
            <a:ext cx="2798064" cy="2011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50224" y="2816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46320" y="3209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806440" y="3246120"/>
            <a:ext cx="2880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06440" y="3246120"/>
            <a:ext cx="1865376" cy="2011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17536" y="3209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4632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806440" y="3639312"/>
            <a:ext cx="2880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06440" y="3639312"/>
            <a:ext cx="1399032" cy="2011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51192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4632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806440" y="4032504"/>
            <a:ext cx="2880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06440" y="4032504"/>
            <a:ext cx="1088136" cy="2011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40296" y="3995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84632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806440" y="4425696"/>
            <a:ext cx="2880360" cy="2011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806440" y="4425696"/>
            <a:ext cx="870509" cy="2011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22669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24912" cy="3337560"/>
          </a:xfrm>
          <a:prstGeom prst="rect">
            <a:avLst/>
          </a:prstGeom>
          <a:solidFill>
            <a:srgbClr val="0A2744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1298448"/>
            <a:ext cx="822960" cy="82296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26771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2450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outperformed Logistic Regression — 88.2% accuracy and ROC-AUC of 0.84. Ensemble learning handled class imbalance better than the linear baseline.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1143000"/>
            <a:ext cx="2724912" cy="3337560"/>
          </a:xfrm>
          <a:prstGeom prst="rect">
            <a:avLst/>
          </a:prstGeom>
          <a:solidFill>
            <a:srgbClr val="0A274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33088" y="1298448"/>
            <a:ext cx="822960" cy="8229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33088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73552" y="226771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Drivers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9272" y="2743200"/>
            <a:ext cx="2450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duration, account balance, and age were the top predictive features. Banks should prioritize longer calls with high-balance, middle-aged customers.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143000"/>
            <a:ext cx="2724912" cy="3337560"/>
          </a:xfrm>
          <a:prstGeom prst="rect">
            <a:avLst/>
          </a:prstGeom>
          <a:solidFill>
            <a:srgbClr val="0A2744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298448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2984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81344" y="226771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27064" y="2743200"/>
            <a:ext cx="24505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this model lets banks target likely subscribers, cutting wasted outreach and improving campaign ROI significantly.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A2744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Future Scope:  Try XGBoost / SMOTE for class imbalance  ·  Deploy model via Flask API  ·  Integrate real-time customer scoring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50109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Sakshi Rani · Kritika Sahoo · Smaraki Mohapatra · Kashafun Afroz · Madhusmita Swain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3356</TotalTime>
  <Words>706</Words>
  <Application>Microsoft Office PowerPoint</Application>
  <PresentationFormat>On-screen Show (16:9)</PresentationFormat>
  <Paragraphs>137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Campaign Prediction using Random Forest</dc:title>
  <dc:subject>PptxGenJS Presentation</dc:subject>
  <dc:creator>PptxGenJS</dc:creator>
  <cp:lastModifiedBy>Kritika Sahoo</cp:lastModifiedBy>
  <cp:revision>2</cp:revision>
  <dcterms:created xsi:type="dcterms:W3CDTF">2026-02-27T13:56:33Z</dcterms:created>
  <dcterms:modified xsi:type="dcterms:W3CDTF">2026-03-02T15:16:07Z</dcterms:modified>
</cp:coreProperties>
</file>